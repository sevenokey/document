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50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395859"/>
            <a:ext cx="7772400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· SKILLS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813620"/>
            <a:ext cx="7772400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Skills（技能）是什么？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62000" y="2594818"/>
            <a:ext cx="777240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一种可复用、可配置的能力模块，让 Codex 在特定场景下更稳定、更可控。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389561"/>
            <a:ext cx="2544663" cy="358080"/>
          </a:xfrm>
          <a:prstGeom prst="roundRect">
            <a:avLst>
              <a:gd name="adj" fmla="val 3543147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3450" y="3484811"/>
            <a:ext cx="224579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从概念 → 能力 → 对比 → 场景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609600"/>
            <a:ext cx="787623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一句话理解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1101" y="1264741"/>
            <a:ext cx="7721798" cy="1736824"/>
          </a:xfrm>
          <a:prstGeom prst="roundRect">
            <a:avLst>
              <a:gd name="adj" fmla="val 10237"/>
            </a:avLst>
          </a:prstGeom>
          <a:solidFill>
            <a:srgbClr val="2328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11101" y="1274266"/>
            <a:ext cx="7721798" cy="0"/>
          </a:xfrm>
          <a:prstGeom prst="line">
            <a:avLst/>
          </a:prstGeom>
          <a:noFill/>
          <a:ln w="19050">
            <a:solidFill>
              <a:srgbClr val="31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23374" y="1264741"/>
            <a:ext cx="0" cy="1736824"/>
          </a:xfrm>
          <a:prstGeom prst="line">
            <a:avLst/>
          </a:prstGeom>
          <a:noFill/>
          <a:ln w="19050">
            <a:solidFill>
              <a:srgbClr val="31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1101" y="2992041"/>
            <a:ext cx="7721798" cy="0"/>
          </a:xfrm>
          <a:prstGeom prst="line">
            <a:avLst/>
          </a:prstGeom>
          <a:noFill/>
          <a:ln w="19050">
            <a:solidFill>
              <a:srgbClr val="31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726" y="1264741"/>
            <a:ext cx="0" cy="1736824"/>
          </a:xfrm>
          <a:prstGeom prst="line">
            <a:avLst/>
          </a:prstGeom>
          <a:noFill/>
          <a:ln w="95250">
            <a:solidFill>
              <a:srgbClr val="B165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1151" y="1563142"/>
            <a:ext cx="921544" cy="269081"/>
          </a:xfrm>
          <a:prstGeom prst="roundRect">
            <a:avLst>
              <a:gd name="adj" fmla="val 4715049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38101" y="1613892"/>
            <a:ext cx="680996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1151" y="1959173"/>
            <a:ext cx="7137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给 Codex 加“专业能力插件”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1151" y="2429024"/>
            <a:ext cx="7137856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让它在某些任务上更稳定、更可控，而不是每次都从零推理。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58701"/>
            <a:ext cx="797976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通常能做什么？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0350" y="1213842"/>
            <a:ext cx="7979765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从产品层面看，Skills 主要把能力“固化成可复用的模块”。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0350" y="1792784"/>
            <a:ext cx="2489299" cy="2540050"/>
          </a:xfrm>
          <a:prstGeom prst="roundRect">
            <a:avLst>
              <a:gd name="adj" fmla="val 7143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2551" y="2014984"/>
            <a:ext cx="343793" cy="269081"/>
          </a:xfrm>
          <a:prstGeom prst="roundRect">
            <a:avLst>
              <a:gd name="adj" fmla="val 4715049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9501" y="2065734"/>
            <a:ext cx="9169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2551" y="2411016"/>
            <a:ext cx="20857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约束行为方式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2551" y="2812256"/>
            <a:ext cx="2044898" cy="12983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定义能力范围与边界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规定输出格式与流程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减少随机性，提高一致性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27350" y="1792784"/>
            <a:ext cx="2489299" cy="2540050"/>
          </a:xfrm>
          <a:prstGeom prst="roundRect">
            <a:avLst>
              <a:gd name="adj" fmla="val 7143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9551" y="2014984"/>
            <a:ext cx="343793" cy="269081"/>
          </a:xfrm>
          <a:prstGeom prst="roundRect">
            <a:avLst>
              <a:gd name="adj" fmla="val 4715049"/>
            </a:avLst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76501" y="2065734"/>
            <a:ext cx="9169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9551" y="2411016"/>
            <a:ext cx="20857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提供专用能力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9551" y="2812256"/>
            <a:ext cx="2044898" cy="104998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聚焦单一任务/任务族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更稳定的结果质量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适配团队与场景需求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994350" y="1792784"/>
            <a:ext cx="2489299" cy="2540050"/>
          </a:xfrm>
          <a:prstGeom prst="roundRect">
            <a:avLst>
              <a:gd name="adj" fmla="val 7143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6551" y="2014984"/>
            <a:ext cx="343793" cy="269081"/>
          </a:xfrm>
          <a:prstGeom prst="roundRect">
            <a:avLst>
              <a:gd name="adj" fmla="val 4715049"/>
            </a:avLst>
          </a:prstGeom>
          <a:solidFill>
            <a:srgbClr val="A3B1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3501" y="2065734"/>
            <a:ext cx="9169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6551" y="2411016"/>
            <a:ext cx="20857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复用与组合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6551" y="2812256"/>
            <a:ext cx="2044898" cy="12983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一次定义，多处使用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可被多个 Agent/Flow 调用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组合成更复杂的流程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58701"/>
            <a:ext cx="797976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1）约束 Codex 的行为方式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0350" y="1188393"/>
            <a:ext cx="3810149" cy="2284661"/>
          </a:xfrm>
          <a:prstGeom prst="roundRect">
            <a:avLst>
              <a:gd name="adj" fmla="val 7782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8000" y="1410593"/>
            <a:ext cx="575072" cy="269081"/>
          </a:xfrm>
          <a:prstGeom prst="roundRect">
            <a:avLst>
              <a:gd name="adj" fmla="val 4715049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34951" y="1461343"/>
            <a:ext cx="32759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8000" y="1882825"/>
            <a:ext cx="3314849" cy="129182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92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能做什么（能力范围）</a:t>
            </a:r>
            <a:endParaRPr lang="en-US" sz="1550" dirty="0"/>
          </a:p>
          <a:p>
            <a:pPr algn="l" marL="127000" indent="-127000">
              <a:lnSpc>
                <a:spcPts val="2092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不能做什么（边界）</a:t>
            </a:r>
            <a:endParaRPr lang="en-US" sz="1550" dirty="0"/>
          </a:p>
          <a:p>
            <a:pPr algn="l" marL="127000" indent="-127000">
              <a:lnSpc>
                <a:spcPts val="2092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用什么格式输出结果</a:t>
            </a:r>
            <a:endParaRPr lang="en-US" sz="1550" dirty="0"/>
          </a:p>
          <a:p>
            <a:pPr algn="l" marL="127000" indent="-127000">
              <a:lnSpc>
                <a:spcPts val="2092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遵循什么规则或流程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673650" y="1188393"/>
            <a:ext cx="3810149" cy="2360563"/>
          </a:xfrm>
          <a:prstGeom prst="roundRect">
            <a:avLst>
              <a:gd name="adj" fmla="val 7532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1300" y="1410593"/>
            <a:ext cx="33811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例子（更可控）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21300" y="1786384"/>
            <a:ext cx="3314849" cy="94982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92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只能写某种语言的代码</a:t>
            </a:r>
            <a:endParaRPr lang="en-US" sz="1550" dirty="0"/>
          </a:p>
          <a:p>
            <a:pPr algn="l" marL="127000" indent="-127000">
              <a:lnSpc>
                <a:spcPts val="2092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必须按公司规范生成 API</a:t>
            </a:r>
            <a:endParaRPr lang="en-US" sz="1550" dirty="0"/>
          </a:p>
          <a:p>
            <a:pPr algn="l" marL="127000" indent="-127000">
              <a:lnSpc>
                <a:spcPts val="2092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回答时只引用内部文档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921300" y="2812405"/>
            <a:ext cx="338114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把“做事方式”固化成规则，比临时对话更稳定。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7950"/>
            <a:ext cx="808329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2）专用能力 + 3）复用与组合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1056531"/>
            <a:ext cx="7924800" cy="1699617"/>
          </a:xfrm>
          <a:prstGeom prst="roundRect">
            <a:avLst>
              <a:gd name="adj" fmla="val 10461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1800" y="1278731"/>
            <a:ext cx="343793" cy="269081"/>
          </a:xfrm>
          <a:prstGeom prst="roundRect">
            <a:avLst>
              <a:gd name="adj" fmla="val 4715049"/>
            </a:avLst>
          </a:prstGeom>
          <a:solidFill>
            <a:srgbClr val="6EE7B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8751" y="1329482"/>
            <a:ext cx="9169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02544" y="1253282"/>
            <a:ext cx="165042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提供“专用能力”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1800" y="1624013"/>
            <a:ext cx="7480399" cy="8719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8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专注单一任务或一类任务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例如：前端组件、SQL、代码 Review、单元测试、摘要、工单分类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相比直接对话：更稳定、更一致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9600" y="2908548"/>
            <a:ext cx="7924800" cy="2011412"/>
          </a:xfrm>
          <a:prstGeom prst="roundRect">
            <a:avLst>
              <a:gd name="adj" fmla="val 8840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1800" y="3130748"/>
            <a:ext cx="343793" cy="269081"/>
          </a:xfrm>
          <a:prstGeom prst="roundRect">
            <a:avLst>
              <a:gd name="adj" fmla="val 4715049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3181499"/>
            <a:ext cx="91690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2544" y="3105299"/>
            <a:ext cx="124282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 &amp; 组合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1800" y="3476030"/>
            <a:ext cx="7480399" cy="118377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8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一次定义，多处使用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可被不同的 Agent / Flow / Prompt 调用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组合多个 Skills 完成复杂任务</a:t>
            </a:r>
            <a:endParaRPr lang="en-US" sz="1450" dirty="0"/>
          </a:p>
          <a:p>
            <a:pPr algn="l" marL="127000" indent="-127000">
              <a:lnSpc>
                <a:spcPts val="1958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例如：代码生成 + 安全检查 + 格式化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431750"/>
            <a:ext cx="813521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和普通 Prompt 的区别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4150" y="1005632"/>
            <a:ext cx="8135213" cy="206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200"/>
              </a:spcBef>
              <a:buNone/>
            </a:pPr>
            <a:r>
              <a:rPr lang="en-US" sz="125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可以把 Prompt 理解为“聊天”，把 Skill 理解为“功能”。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84150" y="1364456"/>
            <a:ext cx="2022723" cy="452289"/>
          </a:xfrm>
          <a:prstGeom prst="roundRect">
            <a:avLst>
              <a:gd name="adj" fmla="val 33695"/>
            </a:avLst>
          </a:prstGeom>
          <a:solidFill>
            <a:srgbClr val="1F2332"/>
          </a:solidFill>
          <a:ln w="19050">
            <a:solidFill>
              <a:srgbClr val="3A45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0151" y="1485007"/>
            <a:ext cx="1765337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对比项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2708374" y="1364456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1F2332"/>
          </a:solidFill>
          <a:ln w="19050">
            <a:solidFill>
              <a:srgbClr val="3A45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54375" y="1485007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5684937" y="1364456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1F2332"/>
          </a:solidFill>
          <a:ln w="19050">
            <a:solidFill>
              <a:srgbClr val="3A45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30937" y="1485007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584150" y="1892945"/>
            <a:ext cx="2022723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0151" y="2013496"/>
            <a:ext cx="1765337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临时性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2708374" y="1892945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54375" y="2013496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5684937" y="1892945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30937" y="2013496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可长期复用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84150" y="2421434"/>
            <a:ext cx="2022723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0151" y="2541984"/>
            <a:ext cx="1765337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稳定性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2708374" y="2421434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4375" y="2541984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依赖输入质量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684937" y="2421434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30937" y="2541984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行为更可控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584150" y="2949922"/>
            <a:ext cx="2022723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0151" y="3070473"/>
            <a:ext cx="1765337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适合谁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2708374" y="2949922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54375" y="3070473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个人使用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5684937" y="2949922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30937" y="3070473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 / 产品级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584150" y="3478411"/>
            <a:ext cx="2022723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0151" y="3598962"/>
            <a:ext cx="1765337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2708374" y="3478411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54375" y="3598962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通常是自然语言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684937" y="3478411"/>
            <a:ext cx="2875062" cy="452289"/>
          </a:xfrm>
          <a:prstGeom prst="roundRect">
            <a:avLst>
              <a:gd name="adj" fmla="val 33695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30937" y="3598962"/>
            <a:ext cx="2634722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通常有配置或模板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584150" y="4159300"/>
            <a:ext cx="575072" cy="269081"/>
          </a:xfrm>
          <a:prstGeom prst="roundRect">
            <a:avLst>
              <a:gd name="adj" fmla="val 4715049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1101" y="4210050"/>
            <a:ext cx="32759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86173" y="4188172"/>
            <a:ext cx="3208847" cy="21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280" b="1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更灵活；Skill 更稳定、可规模化。</a:t>
            </a:r>
            <a:endParaRPr lang="en-US" sz="12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609600"/>
            <a:ext cx="787623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常见使用场景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1101" y="1239292"/>
            <a:ext cx="7721798" cy="2364135"/>
          </a:xfrm>
          <a:prstGeom prst="roundRect">
            <a:avLst>
              <a:gd name="adj" fmla="val 7521"/>
            </a:avLst>
          </a:prstGeom>
          <a:solidFill>
            <a:srgbClr val="23283A"/>
          </a:solidFill>
          <a:ln w="19050">
            <a:solidFill>
              <a:srgbClr val="313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84052" y="1613892"/>
            <a:ext cx="7175897" cy="161493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43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内部开发工具（Dev Copilot）</a:t>
            </a:r>
            <a:endParaRPr lang="en-US" sz="1800" dirty="0"/>
          </a:p>
          <a:p>
            <a:pPr algn="l" marL="127000" indent="-127000">
              <a:lnSpc>
                <a:spcPts val="243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自动化流程（CI / 工单 / 运维）</a:t>
            </a:r>
            <a:endParaRPr lang="en-US" sz="1800" dirty="0"/>
          </a:p>
          <a:p>
            <a:pPr algn="l" marL="127000" indent="-127000">
              <a:lnSpc>
                <a:spcPts val="243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AI 应用</a:t>
            </a:r>
            <a:endParaRPr lang="en-US" sz="1800" dirty="0"/>
          </a:p>
          <a:p>
            <a:pPr algn="l" marL="127000" indent="-127000">
              <a:lnSpc>
                <a:spcPts val="243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7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系统中的能力模块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1101" y="3806577"/>
            <a:ext cx="7876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B7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把高频任务固化为 Skill，可显著提升一致性与交付效率。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2026-01-07T10:04:36Z</dcterms:created>
  <dcterms:modified xsi:type="dcterms:W3CDTF">2026-01-07T10:04:36Z</dcterms:modified>
</cp:coreProperties>
</file>